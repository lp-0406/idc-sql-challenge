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3152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239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162560" y="1"/>
            <a:ext cx="3022600" cy="9144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1739" y="1219202"/>
            <a:ext cx="5557702" cy="4651021"/>
          </a:xfrm>
        </p:spPr>
        <p:txBody>
          <a:bodyPr anchor="b">
            <a:normAutofit/>
          </a:bodyPr>
          <a:lstStyle>
            <a:lvl1pPr algn="r">
              <a:defRPr sz="432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391" y="5870222"/>
            <a:ext cx="4610050" cy="1819375"/>
          </a:xfrm>
        </p:spPr>
        <p:txBody>
          <a:bodyPr anchor="t">
            <a:normAutofit/>
          </a:bodyPr>
          <a:lstStyle>
            <a:lvl1pPr marL="0" indent="0" algn="r">
              <a:buNone/>
              <a:defRPr sz="1440">
                <a:solidFill>
                  <a:schemeClr val="tx1"/>
                </a:solidFill>
              </a:defRPr>
            </a:lvl1pPr>
            <a:lvl2pPr marL="365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6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619" y="8156449"/>
            <a:ext cx="685978" cy="486833"/>
          </a:xfrm>
        </p:spPr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987" y="8156449"/>
            <a:ext cx="2887550" cy="486833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0256" y="8156449"/>
            <a:ext cx="329184" cy="486833"/>
          </a:xfrm>
        </p:spPr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Freeform 12"/>
          <p:cNvSpPr/>
          <p:nvPr/>
        </p:nvSpPr>
        <p:spPr bwMode="auto">
          <a:xfrm>
            <a:off x="162560" y="5029200"/>
            <a:ext cx="289560" cy="120651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448311" y="5156201"/>
            <a:ext cx="49530" cy="107951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382536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707" y="609601"/>
            <a:ext cx="6163734" cy="264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707" y="3556000"/>
            <a:ext cx="6163734" cy="444375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75464" y="8144232"/>
            <a:ext cx="685978" cy="486833"/>
          </a:xfrm>
        </p:spPr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78118" y="8144232"/>
            <a:ext cx="4251614" cy="486833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07174" y="8144232"/>
            <a:ext cx="342266" cy="486833"/>
          </a:xfrm>
        </p:spPr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18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596" y="3555998"/>
            <a:ext cx="5359844" cy="3146761"/>
          </a:xfrm>
        </p:spPr>
        <p:txBody>
          <a:bodyPr anchor="b"/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9598" y="6702760"/>
            <a:ext cx="5359842" cy="1147200"/>
          </a:xfrm>
        </p:spPr>
        <p:txBody>
          <a:bodyPr anchor="t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657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18654" y="8154761"/>
            <a:ext cx="330786" cy="486833"/>
          </a:xfrm>
        </p:spPr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54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707" y="914402"/>
            <a:ext cx="6163734" cy="2336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706" y="3556000"/>
            <a:ext cx="2991917" cy="4491565"/>
          </a:xfrm>
        </p:spPr>
        <p:txBody>
          <a:bodyPr>
            <a:normAutofit/>
          </a:bodyPr>
          <a:lstStyle>
            <a:lvl1pPr>
              <a:defRPr sz="1440"/>
            </a:lvl1pPr>
            <a:lvl2pPr>
              <a:defRPr sz="1280"/>
            </a:lvl2pPr>
            <a:lvl3pPr>
              <a:defRPr sz="1120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7523" y="3556000"/>
            <a:ext cx="2991917" cy="4462432"/>
          </a:xfrm>
        </p:spPr>
        <p:txBody>
          <a:bodyPr>
            <a:normAutofit/>
          </a:bodyPr>
          <a:lstStyle>
            <a:lvl1pPr>
              <a:defRPr sz="1440"/>
            </a:lvl1pPr>
            <a:lvl2pPr>
              <a:defRPr sz="1280"/>
            </a:lvl2pPr>
            <a:lvl3pPr>
              <a:defRPr sz="1120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12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3585" y="3544711"/>
            <a:ext cx="2765033" cy="768349"/>
          </a:xfrm>
        </p:spPr>
        <p:txBody>
          <a:bodyPr anchor="b">
            <a:noAutofit/>
          </a:bodyPr>
          <a:lstStyle>
            <a:lvl1pPr marL="0" indent="0">
              <a:buNone/>
              <a:defRPr sz="2240" b="0">
                <a:solidFill>
                  <a:schemeClr val="accent1">
                    <a:lumMod val="75000"/>
                  </a:schemeClr>
                </a:solidFill>
              </a:defRPr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0819" y="4447115"/>
            <a:ext cx="2937798" cy="3553679"/>
          </a:xfrm>
        </p:spPr>
        <p:txBody>
          <a:bodyPr anchor="t">
            <a:normAutofit/>
          </a:bodyPr>
          <a:lstStyle>
            <a:lvl1pPr>
              <a:defRPr sz="1440"/>
            </a:lvl1pPr>
            <a:lvl2pPr>
              <a:defRPr sz="1280"/>
            </a:lvl2pPr>
            <a:lvl3pPr>
              <a:defRPr sz="1120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29368" y="3556000"/>
            <a:ext cx="2774245" cy="768349"/>
          </a:xfrm>
        </p:spPr>
        <p:txBody>
          <a:bodyPr anchor="b">
            <a:noAutofit/>
          </a:bodyPr>
          <a:lstStyle>
            <a:lvl1pPr marL="0" indent="0">
              <a:buNone/>
              <a:defRPr sz="2240" b="0">
                <a:solidFill>
                  <a:schemeClr val="accent1">
                    <a:lumMod val="75000"/>
                  </a:schemeClr>
                </a:solidFill>
              </a:defRPr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65813" y="4447115"/>
            <a:ext cx="2937798" cy="3553679"/>
          </a:xfrm>
        </p:spPr>
        <p:txBody>
          <a:bodyPr anchor="t">
            <a:normAutofit/>
          </a:bodyPr>
          <a:lstStyle>
            <a:lvl1pPr>
              <a:defRPr sz="1440"/>
            </a:lvl1pPr>
            <a:lvl2pPr>
              <a:defRPr sz="1280"/>
            </a:lvl2pPr>
            <a:lvl3pPr>
              <a:defRPr sz="1120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751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004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629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819" y="2133600"/>
            <a:ext cx="2130027" cy="1828800"/>
          </a:xfrm>
        </p:spPr>
        <p:txBody>
          <a:bodyPr anchor="b">
            <a:normAutofit/>
          </a:bodyPr>
          <a:lstStyle>
            <a:lvl1pPr algn="ctr">
              <a:defRPr sz="19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8042" y="914401"/>
            <a:ext cx="3745570" cy="6807201"/>
          </a:xfr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40"/>
            </a:lvl2pPr>
            <a:lvl3pPr>
              <a:defRPr sz="1280"/>
            </a:lvl3pPr>
            <a:lvl4pPr>
              <a:defRPr sz="1120"/>
            </a:lvl4pPr>
            <a:lvl5pPr>
              <a:defRPr sz="1120"/>
            </a:lvl5pPr>
            <a:lvl6pPr>
              <a:defRPr sz="1120"/>
            </a:lvl6pPr>
            <a:lvl7pPr>
              <a:defRPr sz="1120"/>
            </a:lvl7pPr>
            <a:lvl8pPr>
              <a:defRPr sz="1120"/>
            </a:lvl8pPr>
            <a:lvl9pPr>
              <a:defRPr sz="11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0819" y="3962400"/>
            <a:ext cx="2130027" cy="2438400"/>
          </a:xfrm>
        </p:spPr>
        <p:txBody>
          <a:bodyPr>
            <a:normAutofit/>
          </a:bodyPr>
          <a:lstStyle>
            <a:lvl1pPr marL="0" indent="0" algn="ctr">
              <a:buNone/>
              <a:defRPr sz="1280"/>
            </a:lvl1pPr>
            <a:lvl2pPr marL="365760" indent="0">
              <a:buNone/>
              <a:defRPr sz="960"/>
            </a:lvl2pPr>
            <a:lvl3pPr marL="731520" indent="0">
              <a:buNone/>
              <a:defRPr sz="800"/>
            </a:lvl3pPr>
            <a:lvl4pPr marL="1097280" indent="0">
              <a:buNone/>
              <a:defRPr sz="720"/>
            </a:lvl4pPr>
            <a:lvl5pPr marL="1463040" indent="0">
              <a:buNone/>
              <a:defRPr sz="720"/>
            </a:lvl5pPr>
            <a:lvl6pPr marL="1828800" indent="0">
              <a:buNone/>
              <a:defRPr sz="720"/>
            </a:lvl6pPr>
            <a:lvl7pPr marL="2194560" indent="0">
              <a:buNone/>
              <a:defRPr sz="720"/>
            </a:lvl7pPr>
            <a:lvl8pPr marL="2560320" indent="0">
              <a:buNone/>
              <a:defRPr sz="720"/>
            </a:lvl8pPr>
            <a:lvl9pPr marL="2926080" indent="0">
              <a:buNone/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78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866" y="2336799"/>
            <a:ext cx="3256543" cy="1828800"/>
          </a:xfrm>
        </p:spPr>
        <p:txBody>
          <a:bodyPr anchor="b">
            <a:normAutofit/>
          </a:bodyPr>
          <a:lstStyle>
            <a:lvl1pPr algn="ctr">
              <a:defRPr sz="224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57996" y="1219200"/>
            <a:ext cx="1969097" cy="6096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80"/>
            </a:lvl1pPr>
            <a:lvl2pPr marL="365760" indent="0">
              <a:buNone/>
              <a:defRPr sz="1280"/>
            </a:lvl2pPr>
            <a:lvl3pPr marL="731520" indent="0">
              <a:buNone/>
              <a:defRPr sz="1280"/>
            </a:lvl3pPr>
            <a:lvl4pPr marL="1097280" indent="0">
              <a:buNone/>
              <a:defRPr sz="1280"/>
            </a:lvl4pPr>
            <a:lvl5pPr marL="1463040" indent="0">
              <a:buNone/>
              <a:defRPr sz="1280"/>
            </a:lvl5pPr>
            <a:lvl6pPr marL="1828800" indent="0">
              <a:buNone/>
              <a:defRPr sz="1280"/>
            </a:lvl6pPr>
            <a:lvl7pPr marL="2194560" indent="0">
              <a:buNone/>
              <a:defRPr sz="1280"/>
            </a:lvl7pPr>
            <a:lvl8pPr marL="2560320" indent="0">
              <a:buNone/>
              <a:defRPr sz="1280"/>
            </a:lvl8pPr>
            <a:lvl9pPr marL="2926080" indent="0">
              <a:buNone/>
              <a:defRPr sz="12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9866" y="4165599"/>
            <a:ext cx="3256543" cy="2438400"/>
          </a:xfrm>
        </p:spPr>
        <p:txBody>
          <a:bodyPr>
            <a:normAutofit/>
          </a:bodyPr>
          <a:lstStyle>
            <a:lvl1pPr marL="0" indent="0" algn="ctr">
              <a:buNone/>
              <a:defRPr sz="1440"/>
            </a:lvl1pPr>
            <a:lvl2pPr marL="365760" indent="0">
              <a:buNone/>
              <a:defRPr sz="960"/>
            </a:lvl2pPr>
            <a:lvl3pPr marL="731520" indent="0">
              <a:buNone/>
              <a:defRPr sz="800"/>
            </a:lvl3pPr>
            <a:lvl4pPr marL="1097280" indent="0">
              <a:buNone/>
              <a:defRPr sz="720"/>
            </a:lvl4pPr>
            <a:lvl5pPr marL="1463040" indent="0">
              <a:buNone/>
              <a:defRPr sz="720"/>
            </a:lvl5pPr>
            <a:lvl6pPr marL="1828800" indent="0">
              <a:buNone/>
              <a:defRPr sz="720"/>
            </a:lvl6pPr>
            <a:lvl7pPr marL="2194560" indent="0">
              <a:buNone/>
              <a:defRPr sz="720"/>
            </a:lvl7pPr>
            <a:lvl8pPr marL="2560320" indent="0">
              <a:buNone/>
              <a:defRPr sz="720"/>
            </a:lvl8pPr>
            <a:lvl9pPr marL="2926080" indent="0">
              <a:buNone/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384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819" y="6310487"/>
            <a:ext cx="6012793" cy="755651"/>
          </a:xfrm>
        </p:spPr>
        <p:txBody>
          <a:bodyPr anchor="b">
            <a:normAutofit/>
          </a:bodyPr>
          <a:lstStyle>
            <a:lvl1pPr algn="ctr">
              <a:defRPr sz="19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31980" y="1242816"/>
            <a:ext cx="4936852" cy="421996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80"/>
            </a:lvl1pPr>
            <a:lvl2pPr marL="365760" indent="0">
              <a:buNone/>
              <a:defRPr sz="1280"/>
            </a:lvl2pPr>
            <a:lvl3pPr marL="731520" indent="0">
              <a:buNone/>
              <a:defRPr sz="1280"/>
            </a:lvl3pPr>
            <a:lvl4pPr marL="1097280" indent="0">
              <a:buNone/>
              <a:defRPr sz="1280"/>
            </a:lvl4pPr>
            <a:lvl5pPr marL="1463040" indent="0">
              <a:buNone/>
              <a:defRPr sz="1280"/>
            </a:lvl5pPr>
            <a:lvl6pPr marL="1828800" indent="0">
              <a:buNone/>
              <a:defRPr sz="1280"/>
            </a:lvl6pPr>
            <a:lvl7pPr marL="2194560" indent="0">
              <a:buNone/>
              <a:defRPr sz="1280"/>
            </a:lvl7pPr>
            <a:lvl8pPr marL="2560320" indent="0">
              <a:buNone/>
              <a:defRPr sz="1280"/>
            </a:lvl8pPr>
            <a:lvl9pPr marL="2926080" indent="0">
              <a:buNone/>
              <a:defRPr sz="12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0819" y="7066137"/>
            <a:ext cx="6012793" cy="658283"/>
          </a:xfrm>
        </p:spPr>
        <p:txBody>
          <a:bodyPr>
            <a:normAutofit/>
          </a:bodyPr>
          <a:lstStyle>
            <a:lvl1pPr marL="0" indent="0" algn="ctr">
              <a:buNone/>
              <a:defRPr sz="1120"/>
            </a:lvl1pPr>
            <a:lvl2pPr marL="365760" indent="0">
              <a:buNone/>
              <a:defRPr sz="960"/>
            </a:lvl2pPr>
            <a:lvl3pPr marL="731520" indent="0">
              <a:buNone/>
              <a:defRPr sz="800"/>
            </a:lvl3pPr>
            <a:lvl4pPr marL="1097280" indent="0">
              <a:buNone/>
              <a:defRPr sz="720"/>
            </a:lvl4pPr>
            <a:lvl5pPr marL="1463040" indent="0">
              <a:buNone/>
              <a:defRPr sz="720"/>
            </a:lvl5pPr>
            <a:lvl6pPr marL="1828800" indent="0">
              <a:buNone/>
              <a:defRPr sz="720"/>
            </a:lvl6pPr>
            <a:lvl7pPr marL="2194560" indent="0">
              <a:buNone/>
              <a:defRPr sz="720"/>
            </a:lvl7pPr>
            <a:lvl8pPr marL="2560320" indent="0">
              <a:buNone/>
              <a:defRPr sz="720"/>
            </a:lvl8pPr>
            <a:lvl9pPr marL="2926080" indent="0">
              <a:buNone/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45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820" y="914400"/>
            <a:ext cx="6012793" cy="4064000"/>
          </a:xfrm>
        </p:spPr>
        <p:txBody>
          <a:bodyPr anchor="ctr">
            <a:normAutofit/>
          </a:bodyPr>
          <a:lstStyle>
            <a:lvl1pPr algn="ctr">
              <a:defRPr sz="25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0819" y="5791200"/>
            <a:ext cx="6012794" cy="19304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3657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037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775537" y="1150698"/>
            <a:ext cx="365855" cy="779701"/>
          </a:xfrm>
          <a:prstGeom prst="rect">
            <a:avLst/>
          </a:prstGeom>
        </p:spPr>
        <p:txBody>
          <a:bodyPr vert="horz" lIns="73152" tIns="36576" rIns="73152" bIns="3657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758" y="3759199"/>
            <a:ext cx="365855" cy="779701"/>
          </a:xfrm>
          <a:prstGeom prst="rect">
            <a:avLst/>
          </a:prstGeom>
        </p:spPr>
        <p:txBody>
          <a:bodyPr vert="horz" lIns="73152" tIns="36576" rIns="73152" bIns="3657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4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393" y="914402"/>
            <a:ext cx="5579292" cy="3657599"/>
          </a:xfrm>
        </p:spPr>
        <p:txBody>
          <a:bodyPr anchor="ctr">
            <a:normAutofit/>
          </a:bodyPr>
          <a:lstStyle>
            <a:lvl1pPr algn="ctr">
              <a:defRPr sz="256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78588" y="4571999"/>
            <a:ext cx="5304902" cy="508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40"/>
            </a:lvl1pPr>
            <a:lvl2pPr marL="365760" indent="0">
              <a:buFontTx/>
              <a:buNone/>
              <a:defRPr/>
            </a:lvl2pPr>
            <a:lvl3pPr marL="731520" indent="0">
              <a:buFontTx/>
              <a:buNone/>
              <a:defRPr/>
            </a:lvl3pPr>
            <a:lvl4pPr marL="1097280" indent="0">
              <a:buFontTx/>
              <a:buNone/>
              <a:defRPr/>
            </a:lvl4pPr>
            <a:lvl5pPr marL="146304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0819" y="5791200"/>
            <a:ext cx="6012793" cy="19304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3657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685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821" y="4411441"/>
            <a:ext cx="6012791" cy="1958400"/>
          </a:xfrm>
        </p:spPr>
        <p:txBody>
          <a:bodyPr anchor="b">
            <a:normAutofit/>
          </a:bodyPr>
          <a:lstStyle>
            <a:lvl1pPr algn="r">
              <a:defRPr sz="25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0819" y="6369841"/>
            <a:ext cx="6012792" cy="1147200"/>
          </a:xfrm>
        </p:spPr>
        <p:txBody>
          <a:bodyPr anchor="t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657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187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775537" y="1150698"/>
            <a:ext cx="365855" cy="779701"/>
          </a:xfrm>
          <a:prstGeom prst="rect">
            <a:avLst/>
          </a:prstGeom>
        </p:spPr>
        <p:txBody>
          <a:bodyPr vert="horz" lIns="73152" tIns="36576" rIns="73152" bIns="3657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758" y="3759199"/>
            <a:ext cx="365855" cy="779701"/>
          </a:xfrm>
          <a:prstGeom prst="rect">
            <a:avLst/>
          </a:prstGeom>
        </p:spPr>
        <p:txBody>
          <a:bodyPr vert="horz" lIns="73152" tIns="36576" rIns="73152" bIns="3657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4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393" y="914402"/>
            <a:ext cx="5579292" cy="3657599"/>
          </a:xfrm>
        </p:spPr>
        <p:txBody>
          <a:bodyPr anchor="ctr">
            <a:normAutofit/>
          </a:bodyPr>
          <a:lstStyle>
            <a:lvl1pPr algn="ctr">
              <a:defRPr sz="256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90820" y="5181600"/>
            <a:ext cx="6012792" cy="1185333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92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0819" y="6366933"/>
            <a:ext cx="6012792" cy="1354667"/>
          </a:xfrm>
        </p:spPr>
        <p:txBody>
          <a:bodyPr anchor="t">
            <a:normAutofit/>
          </a:bodyPr>
          <a:lstStyle>
            <a:lvl1pPr marL="0" indent="0" algn="r">
              <a:buNone/>
              <a:defRPr sz="1440">
                <a:solidFill>
                  <a:schemeClr val="tx1"/>
                </a:solidFill>
              </a:defRPr>
            </a:lvl1pPr>
            <a:lvl2pPr marL="3657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02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820" y="914402"/>
            <a:ext cx="6012793" cy="363643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90819" y="4673600"/>
            <a:ext cx="6012794" cy="11176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24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0819" y="5791200"/>
            <a:ext cx="6012794" cy="1930400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chemeClr val="tx1"/>
                </a:solidFill>
              </a:defRPr>
            </a:lvl1pPr>
            <a:lvl2pPr marL="3657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779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432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41115" y="914400"/>
            <a:ext cx="1062498" cy="6807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0820" y="914400"/>
            <a:ext cx="4813098" cy="68072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92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" y="1"/>
            <a:ext cx="1705610" cy="9144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5707" y="609601"/>
            <a:ext cx="6163734" cy="26416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5707" y="3556001"/>
            <a:ext cx="6163733" cy="4475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86944" y="8154761"/>
            <a:ext cx="68597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076AACC-D192-4AC4-B44A-0CD54EF1294D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89598" y="8154761"/>
            <a:ext cx="4251614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8654" y="8154761"/>
            <a:ext cx="330786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0935813-1F41-445B-9EA5-C2A9C9B4CC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132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365760" rtl="0" eaLnBrk="1" latinLnBrk="0" hangingPunct="1">
        <a:spcBef>
          <a:spcPct val="0"/>
        </a:spcBef>
        <a:buNone/>
        <a:defRPr sz="32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365760" rtl="0" eaLnBrk="1" latinLnBrk="0" hangingPunct="1">
        <a:spcBef>
          <a:spcPct val="20000"/>
        </a:spcBef>
        <a:spcAft>
          <a:spcPts val="48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2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4360" indent="-228600" algn="l" defTabSz="365760" rtl="0" eaLnBrk="1" latinLnBrk="0" hangingPunct="1">
        <a:spcBef>
          <a:spcPct val="20000"/>
        </a:spcBef>
        <a:spcAft>
          <a:spcPts val="48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60120" indent="-228600" algn="l" defTabSz="365760" rtl="0" eaLnBrk="1" latinLnBrk="0" hangingPunct="1">
        <a:spcBef>
          <a:spcPct val="20000"/>
        </a:spcBef>
        <a:spcAft>
          <a:spcPts val="48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34440" indent="-137160" algn="l" defTabSz="365760" rtl="0" eaLnBrk="1" latinLnBrk="0" hangingPunct="1">
        <a:spcBef>
          <a:spcPct val="20000"/>
        </a:spcBef>
        <a:spcAft>
          <a:spcPts val="48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00200" indent="-137160" algn="l" defTabSz="365760" rtl="0" eaLnBrk="1" latinLnBrk="0" hangingPunct="1">
        <a:spcBef>
          <a:spcPct val="20000"/>
        </a:spcBef>
        <a:spcAft>
          <a:spcPts val="48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12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011680" indent="-182880" algn="l" defTabSz="365760" rtl="0" eaLnBrk="1" latinLnBrk="0" hangingPunct="1">
        <a:spcBef>
          <a:spcPct val="20000"/>
        </a:spcBef>
        <a:spcAft>
          <a:spcPts val="48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12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377440" indent="-182880" algn="l" defTabSz="365760" rtl="0" eaLnBrk="1" latinLnBrk="0" hangingPunct="1">
        <a:spcBef>
          <a:spcPct val="20000"/>
        </a:spcBef>
        <a:spcAft>
          <a:spcPts val="48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12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743200" indent="-182880" algn="l" defTabSz="365760" rtl="0" eaLnBrk="1" latinLnBrk="0" hangingPunct="1">
        <a:spcBef>
          <a:spcPct val="20000"/>
        </a:spcBef>
        <a:spcAft>
          <a:spcPts val="48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12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108960" indent="-182880" algn="l" defTabSz="365760" rtl="0" eaLnBrk="1" latinLnBrk="0" hangingPunct="1">
        <a:spcBef>
          <a:spcPct val="20000"/>
        </a:spcBef>
        <a:spcAft>
          <a:spcPts val="48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12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36576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36576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36576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36576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36576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36576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36576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36576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2CBF02-BEAF-4166-A1E8-02BD6583B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537" y="180475"/>
            <a:ext cx="6930189" cy="8819146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SQL Murder Mystery: “Who Killed the CEO?”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39101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C1BD4-4BF8-41B7-AC3A-9CBD3E77C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8" y="96253"/>
            <a:ext cx="7089290" cy="88793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/>
              <a:t>         Q1: </a:t>
            </a:r>
            <a:r>
              <a:rPr lang="en-US" sz="2600" dirty="0"/>
              <a:t>Who entered the </a:t>
            </a:r>
            <a:r>
              <a:rPr lang="en-US" sz="2600" dirty="0">
                <a:effectLst/>
              </a:rPr>
              <a:t>CEO’s Office</a:t>
            </a:r>
            <a:r>
              <a:rPr lang="en-US" sz="2600" dirty="0"/>
              <a:t> close to the 	           time of the murder?</a:t>
            </a:r>
            <a:endParaRPr lang="en-IN" sz="2600" dirty="0"/>
          </a:p>
          <a:p>
            <a:pPr marL="0" indent="0">
              <a:buNone/>
            </a:pPr>
            <a:r>
              <a:rPr lang="en-IN" sz="2600" dirty="0"/>
              <a:t>      Ans: </a:t>
            </a:r>
          </a:p>
          <a:p>
            <a:pPr marL="0" indent="0">
              <a:buNone/>
            </a:pPr>
            <a:r>
              <a:rPr lang="en-IN" sz="2600" dirty="0"/>
              <a:t>	select </a:t>
            </a:r>
          </a:p>
          <a:p>
            <a:pPr marL="0" indent="0">
              <a:buNone/>
            </a:pPr>
            <a:r>
              <a:rPr lang="en-IN" sz="2600" dirty="0"/>
              <a:t>		e.employee_id,</a:t>
            </a:r>
          </a:p>
          <a:p>
            <a:pPr marL="0" indent="0">
              <a:buNone/>
            </a:pPr>
            <a:r>
              <a:rPr lang="en-IN" sz="2600" dirty="0"/>
              <a:t>                    e.name,</a:t>
            </a:r>
          </a:p>
          <a:p>
            <a:pPr marL="0" indent="0">
              <a:buNone/>
            </a:pPr>
            <a:r>
              <a:rPr lang="en-IN" sz="2600" dirty="0"/>
              <a:t>		kl.room,</a:t>
            </a:r>
          </a:p>
          <a:p>
            <a:pPr marL="0" indent="0">
              <a:buNone/>
            </a:pPr>
            <a:r>
              <a:rPr lang="en-IN" sz="2600" dirty="0"/>
              <a:t>		kl.entry_time</a:t>
            </a:r>
          </a:p>
          <a:p>
            <a:pPr marL="0" indent="0">
              <a:buNone/>
            </a:pPr>
            <a:r>
              <a:rPr lang="en-IN" sz="2600" dirty="0"/>
              <a:t>	from keycard_logs as kl</a:t>
            </a:r>
          </a:p>
          <a:p>
            <a:pPr marL="0" indent="0">
              <a:buNone/>
            </a:pPr>
            <a:r>
              <a:rPr lang="en-IN" sz="2600" dirty="0"/>
              <a:t>          left join employees as e</a:t>
            </a:r>
          </a:p>
          <a:p>
            <a:pPr marL="0" indent="0">
              <a:buNone/>
            </a:pPr>
            <a:r>
              <a:rPr lang="en-IN" sz="2600" dirty="0"/>
              <a:t>          on kl.employee_id = e.employee_id</a:t>
            </a:r>
          </a:p>
          <a:p>
            <a:pPr marL="0" indent="0">
              <a:buNone/>
            </a:pPr>
            <a:r>
              <a:rPr lang="en-IN" sz="2600" dirty="0"/>
              <a:t>          where kl.room="CEO Office";</a:t>
            </a:r>
          </a:p>
        </p:txBody>
      </p:sp>
    </p:spTree>
    <p:extLst>
      <p:ext uri="{BB962C8B-B14F-4D97-AF65-F5344CB8AC3E}">
        <p14:creationId xmlns:p14="http://schemas.microsoft.com/office/powerpoint/2010/main" val="2294787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C1BD4-4BF8-41B7-AC3A-9CBD3E77C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8" y="96253"/>
            <a:ext cx="7089290" cy="89514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r>
              <a:rPr lang="en-IN" sz="2600" dirty="0"/>
              <a:t>        Q2: </a:t>
            </a:r>
            <a:r>
              <a:rPr lang="en-US" sz="2600" dirty="0"/>
              <a:t>Who </a:t>
            </a:r>
            <a:r>
              <a:rPr lang="en-US" sz="2600" dirty="0">
                <a:effectLst/>
              </a:rPr>
              <a:t>claimed</a:t>
            </a:r>
            <a:r>
              <a:rPr lang="en-US" sz="2600" dirty="0"/>
              <a:t> to be somewhere else but 	  			was not?</a:t>
            </a:r>
          </a:p>
          <a:p>
            <a:pPr marL="0" indent="0">
              <a:buNone/>
            </a:pPr>
            <a:r>
              <a:rPr lang="en-US" sz="2600" dirty="0"/>
              <a:t>	 Ans: </a:t>
            </a:r>
          </a:p>
          <a:p>
            <a:pPr marL="0" indent="0">
              <a:buNone/>
            </a:pPr>
            <a:r>
              <a:rPr lang="en-US" sz="2600" dirty="0"/>
              <a:t>	select</a:t>
            </a:r>
          </a:p>
          <a:p>
            <a:pPr marL="0" indent="0">
              <a:buNone/>
            </a:pPr>
            <a:r>
              <a:rPr lang="en-US" sz="2600" dirty="0"/>
              <a:t>		kl.employee_id,</a:t>
            </a:r>
          </a:p>
          <a:p>
            <a:pPr marL="0" indent="0">
              <a:buNone/>
            </a:pPr>
            <a:r>
              <a:rPr lang="en-US" sz="2600" dirty="0"/>
              <a:t>		e.name,</a:t>
            </a:r>
          </a:p>
          <a:p>
            <a:pPr marL="0" indent="0">
              <a:buNone/>
            </a:pPr>
            <a:r>
              <a:rPr lang="en-US" sz="2600" dirty="0"/>
              <a:t>		a.claimed_location,</a:t>
            </a:r>
          </a:p>
          <a:p>
            <a:pPr marL="0" indent="0">
              <a:buNone/>
            </a:pPr>
            <a:r>
              <a:rPr lang="en-US" sz="2600" dirty="0"/>
              <a:t>		kl.room as acutual_room</a:t>
            </a:r>
          </a:p>
          <a:p>
            <a:pPr marL="0" indent="0">
              <a:buNone/>
            </a:pPr>
            <a:r>
              <a:rPr lang="en-US" sz="2600" dirty="0"/>
              <a:t>	from keycard_logs as kl</a:t>
            </a:r>
          </a:p>
          <a:p>
            <a:pPr marL="0" indent="0">
              <a:buNone/>
            </a:pPr>
            <a:r>
              <a:rPr lang="en-US" sz="2600" dirty="0"/>
              <a:t>	left join employees as e</a:t>
            </a:r>
          </a:p>
          <a:p>
            <a:pPr marL="0" indent="0">
              <a:buNone/>
            </a:pPr>
            <a:r>
              <a:rPr lang="en-US" sz="2600" dirty="0"/>
              <a:t>	on kl.employee_id = e.employee_id</a:t>
            </a:r>
          </a:p>
          <a:p>
            <a:pPr marL="0" indent="0">
              <a:buNone/>
            </a:pPr>
            <a:r>
              <a:rPr lang="en-US" sz="2600" dirty="0"/>
              <a:t>	left join alibis as a</a:t>
            </a:r>
          </a:p>
          <a:p>
            <a:pPr marL="0" indent="0">
              <a:buNone/>
            </a:pPr>
            <a:r>
              <a:rPr lang="en-US" sz="2600" dirty="0"/>
              <a:t>	on kl.employee_id = a.employee_id</a:t>
            </a:r>
          </a:p>
          <a:p>
            <a:pPr marL="0" indent="0">
              <a:buNone/>
            </a:pPr>
            <a:r>
              <a:rPr lang="en-US" sz="2600" dirty="0"/>
              <a:t>	where kl.room="CEO Office";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166337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C1BD4-4BF8-41B7-AC3A-9CBD3E77C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8" y="120317"/>
            <a:ext cx="7089290" cy="88913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	    Q3: Who made or received calls around </a:t>
            </a:r>
            <a:r>
              <a:rPr lang="en-US" sz="2600" dirty="0">
                <a:effectLst/>
              </a:rPr>
              <a:t>20:50–	            	            21:00</a:t>
            </a:r>
            <a:r>
              <a:rPr lang="en-US" sz="2600" dirty="0"/>
              <a:t>?</a:t>
            </a:r>
          </a:p>
          <a:p>
            <a:pPr marL="0" indent="0">
              <a:buNone/>
            </a:pPr>
            <a:r>
              <a:rPr lang="en-US" sz="2600" dirty="0"/>
              <a:t>          Ans:</a:t>
            </a:r>
          </a:p>
          <a:p>
            <a:pPr marL="0" indent="0">
              <a:buNone/>
            </a:pPr>
            <a:r>
              <a:rPr lang="en-US" sz="2600" dirty="0"/>
              <a:t>	  	select</a:t>
            </a:r>
          </a:p>
          <a:p>
            <a:pPr marL="0" indent="0">
              <a:buNone/>
            </a:pPr>
            <a:r>
              <a:rPr lang="en-US" sz="2600" dirty="0"/>
              <a:t>			e1.name AS caller,</a:t>
            </a:r>
          </a:p>
          <a:p>
            <a:pPr marL="0" indent="0">
              <a:buNone/>
            </a:pPr>
            <a:r>
              <a:rPr lang="en-US" sz="2600" dirty="0"/>
              <a:t>			e2.name AS receiver,</a:t>
            </a:r>
          </a:p>
          <a:p>
            <a:pPr marL="0" indent="0">
              <a:buNone/>
            </a:pPr>
            <a:r>
              <a:rPr lang="en-US" sz="2600" dirty="0"/>
              <a:t>			c.call_time</a:t>
            </a:r>
          </a:p>
          <a:p>
            <a:pPr marL="0" indent="0">
              <a:buNone/>
            </a:pPr>
            <a:r>
              <a:rPr lang="en-US" sz="2600" dirty="0"/>
              <a:t>		from calls c</a:t>
            </a:r>
          </a:p>
          <a:p>
            <a:pPr marL="0" indent="0">
              <a:buNone/>
            </a:pPr>
            <a:r>
              <a:rPr lang="en-US" sz="2600" dirty="0"/>
              <a:t>		join employees as e1 </a:t>
            </a:r>
          </a:p>
          <a:p>
            <a:pPr marL="0" indent="0">
              <a:buNone/>
            </a:pPr>
            <a:r>
              <a:rPr lang="en-US" sz="2600" dirty="0"/>
              <a:t>		on e1.employee_id = </a:t>
            </a:r>
            <a:r>
              <a:rPr lang="en-US" sz="2600" dirty="0" err="1"/>
              <a:t>c.caller_id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		join employees as e2 </a:t>
            </a:r>
          </a:p>
          <a:p>
            <a:pPr marL="0" indent="0">
              <a:buNone/>
            </a:pPr>
            <a:r>
              <a:rPr lang="en-US" sz="2600" dirty="0"/>
              <a:t>		on e2.employee_id = </a:t>
            </a:r>
            <a:r>
              <a:rPr lang="en-US" sz="2600" dirty="0" err="1"/>
              <a:t>c.receiver_id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		where time(c.call_time) </a:t>
            </a:r>
          </a:p>
          <a:p>
            <a:pPr marL="0" indent="0">
              <a:buNone/>
            </a:pPr>
            <a:r>
              <a:rPr lang="en-US" sz="2600" dirty="0"/>
              <a:t>		between '20:50:00' AND '21:00:00’;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          Q4: What evidence was found at the </a:t>
            </a:r>
            <a:r>
              <a:rPr lang="en-US" sz="2600" dirty="0">
                <a:effectLst/>
              </a:rPr>
              <a:t>crime scene</a:t>
            </a:r>
            <a:r>
              <a:rPr lang="en-US" sz="2600" dirty="0"/>
              <a:t>?</a:t>
            </a:r>
          </a:p>
          <a:p>
            <a:pPr marL="0" indent="0">
              <a:buNone/>
            </a:pPr>
            <a:r>
              <a:rPr lang="en-US" sz="2600" dirty="0"/>
              <a:t>              Ans: select description from evidence;</a:t>
            </a:r>
          </a:p>
          <a:p>
            <a:pPr marL="0" indent="0">
              <a:buNone/>
            </a:pP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296374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C1BD4-4BF8-41B7-AC3A-9CBD3E77C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8" y="120317"/>
            <a:ext cx="7089290" cy="88913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/>
              <a:t>           Q5: Which suspect’s movements, alibi, and call 		             activity </a:t>
            </a:r>
            <a:r>
              <a:rPr lang="en-US" sz="2600" dirty="0">
                <a:effectLst/>
              </a:rPr>
              <a:t>don’t add up</a:t>
            </a:r>
            <a:r>
              <a:rPr lang="en-US" sz="2600" dirty="0"/>
              <a:t>?</a:t>
            </a:r>
          </a:p>
          <a:p>
            <a:pPr marL="0" indent="0">
              <a:buNone/>
            </a:pPr>
            <a:r>
              <a:rPr lang="en-US" sz="2600" dirty="0"/>
              <a:t>         Ans: </a:t>
            </a:r>
          </a:p>
          <a:p>
            <a:pPr marL="0" indent="0">
              <a:buNone/>
            </a:pPr>
            <a:r>
              <a:rPr lang="en-US" sz="2600" dirty="0"/>
              <a:t>	       SELECT DISTINCT e.employee_id,e.name,</a:t>
            </a:r>
          </a:p>
          <a:p>
            <a:pPr marL="0" indent="0">
              <a:buNone/>
            </a:pPr>
            <a:r>
              <a:rPr lang="en-US" sz="2600" dirty="0"/>
              <a:t>	       a.claimed_location,</a:t>
            </a:r>
          </a:p>
          <a:p>
            <a:pPr marL="0" indent="0">
              <a:buNone/>
            </a:pPr>
            <a:r>
              <a:rPr lang="en-US" sz="2600" dirty="0"/>
              <a:t>		kl.room AS actual_room,c.call_time</a:t>
            </a:r>
          </a:p>
          <a:p>
            <a:pPr marL="0" indent="0">
              <a:buNone/>
            </a:pPr>
            <a:r>
              <a:rPr lang="en-US" sz="2600" dirty="0"/>
              <a:t>		FROM employees </a:t>
            </a:r>
          </a:p>
          <a:p>
            <a:pPr marL="0" indent="0">
              <a:buNone/>
            </a:pPr>
            <a:r>
              <a:rPr lang="en-US" sz="2600" dirty="0"/>
              <a:t>		JOIN keycard_logs kl</a:t>
            </a:r>
          </a:p>
          <a:p>
            <a:pPr marL="0" indent="0">
              <a:buNone/>
            </a:pPr>
            <a:r>
              <a:rPr lang="en-US" sz="2600" dirty="0"/>
              <a:t>		ON e.employee_id = kl.employee_id</a:t>
            </a:r>
          </a:p>
          <a:p>
            <a:pPr marL="0" indent="0">
              <a:buNone/>
            </a:pPr>
            <a:r>
              <a:rPr lang="en-US" sz="2600" dirty="0"/>
              <a:t>		AND kl.room = 'CEO Office’</a:t>
            </a:r>
          </a:p>
          <a:p>
            <a:pPr marL="0" indent="0">
              <a:buNone/>
            </a:pPr>
            <a:r>
              <a:rPr lang="en-US" sz="2600" dirty="0"/>
              <a:t>		AND TIME(kl.entry_time)</a:t>
            </a:r>
          </a:p>
          <a:p>
            <a:pPr marL="0" indent="0">
              <a:buNone/>
            </a:pPr>
            <a:r>
              <a:rPr lang="en-US" sz="2600" dirty="0"/>
              <a:t>		BETWEEN '20:50:00' AND '21:00:00’</a:t>
            </a:r>
          </a:p>
          <a:p>
            <a:pPr marL="0" indent="0">
              <a:buNone/>
            </a:pPr>
            <a:r>
              <a:rPr lang="en-US" sz="2600" dirty="0"/>
              <a:t>		JOIN alibis as a    </a:t>
            </a:r>
          </a:p>
          <a:p>
            <a:pPr marL="0" indent="0">
              <a:buNone/>
            </a:pPr>
            <a:r>
              <a:rPr lang="en-US" sz="2600" dirty="0"/>
              <a:t>		ON e.employee_id = a.employee_id    </a:t>
            </a:r>
          </a:p>
          <a:p>
            <a:pPr marL="0" indent="0">
              <a:buNone/>
            </a:pPr>
            <a:r>
              <a:rPr lang="en-US" sz="2600" dirty="0"/>
              <a:t>		AND a.claimed_location &lt;&gt; 'CEO Office’</a:t>
            </a:r>
          </a:p>
          <a:p>
            <a:pPr marL="0" indent="0">
              <a:buNone/>
            </a:pPr>
            <a:r>
              <a:rPr lang="en-US" sz="2600" dirty="0"/>
              <a:t>		JOIN calls as c </a:t>
            </a:r>
          </a:p>
          <a:p>
            <a:pPr marL="0" indent="0">
              <a:buNone/>
            </a:pPr>
            <a:r>
              <a:rPr lang="en-US" sz="2600" dirty="0"/>
              <a:t>		ON (e.employee_id = c.caller_id </a:t>
            </a:r>
          </a:p>
          <a:p>
            <a:pPr marL="0" indent="0">
              <a:buNone/>
            </a:pPr>
            <a:r>
              <a:rPr lang="en-US" sz="2600" dirty="0"/>
              <a:t>		OR e.employee_id = c.receiver_id) AND 			     		TIME(c.call_time) BETWEEN '20:50:00' AND 				'21:00:00';</a:t>
            </a:r>
          </a:p>
        </p:txBody>
      </p:sp>
    </p:spTree>
    <p:extLst>
      <p:ext uri="{BB962C8B-B14F-4D97-AF65-F5344CB8AC3E}">
        <p14:creationId xmlns:p14="http://schemas.microsoft.com/office/powerpoint/2010/main" val="3859285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2CBF02-BEAF-4166-A1E8-02BD6583B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537" y="180475"/>
            <a:ext cx="6930189" cy="8819146"/>
          </a:xfrm>
        </p:spPr>
        <p:txBody>
          <a:bodyPr>
            <a:normAutofit/>
          </a:bodyPr>
          <a:lstStyle/>
          <a:p>
            <a:pPr algn="ctr"/>
            <a:r>
              <a:rPr lang="en-IN" sz="2600" dirty="0"/>
              <a:t>Conclusion:</a:t>
            </a:r>
          </a:p>
          <a:p>
            <a:pPr algn="l"/>
            <a:r>
              <a:rPr lang="en-IN" sz="2000" b="1" dirty="0"/>
              <a:t>			  Suspect Identified: </a:t>
            </a:r>
            <a:r>
              <a:rPr lang="en-IN" sz="2000" dirty="0"/>
              <a:t>David Kumar</a:t>
            </a:r>
          </a:p>
          <a:p>
            <a:pPr algn="l"/>
            <a:r>
              <a:rPr lang="en-IN" sz="2000" b="1" dirty="0"/>
              <a:t>     			why:</a:t>
            </a:r>
          </a:p>
          <a:p>
            <a:pPr algn="l"/>
            <a:r>
              <a:rPr lang="en-IN" sz="2000" b="1" dirty="0"/>
              <a:t>			</a:t>
            </a:r>
            <a:r>
              <a:rPr lang="en-US" sz="2000" b="1" dirty="0"/>
              <a:t>Movement</a:t>
            </a:r>
            <a:r>
              <a:rPr lang="en-US" sz="2000" dirty="0"/>
              <a:t>: Was in CEO Office during murder window 						   (20:</a:t>
            </a:r>
            <a:r>
              <a:rPr lang="en-IN" sz="2000" dirty="0"/>
              <a:t>50–21:00)</a:t>
            </a:r>
            <a:endParaRPr lang="en-US" sz="2000" dirty="0"/>
          </a:p>
          <a:p>
            <a:pPr algn="l"/>
            <a:r>
              <a:rPr lang="en-US" sz="2000" dirty="0"/>
              <a:t>	             </a:t>
            </a:r>
            <a:r>
              <a:rPr lang="en-US" sz="2000" b="1" dirty="0"/>
              <a:t>Alibi</a:t>
            </a:r>
            <a:r>
              <a:rPr lang="en-US" sz="2000" dirty="0"/>
              <a:t>: Claimed to be in Server Room at the same time 					   mismatch</a:t>
            </a:r>
          </a:p>
          <a:p>
            <a:pPr algn="l"/>
            <a:r>
              <a:rPr lang="en-US" sz="2000" dirty="0"/>
              <a:t>		  </a:t>
            </a:r>
            <a:r>
              <a:rPr lang="en-US" sz="2000" b="1" dirty="0"/>
              <a:t>Call Activity: </a:t>
            </a:r>
            <a:r>
              <a:rPr lang="en-US" sz="2000" dirty="0"/>
              <a:t>Made a call at 20:55 → confirms presence 						       in CEO Office</a:t>
            </a:r>
          </a:p>
          <a:p>
            <a:pPr algn="l"/>
            <a:r>
              <a:rPr lang="en-US" sz="2000" b="1" dirty="0"/>
              <a:t>		Evidence:</a:t>
            </a:r>
          </a:p>
          <a:p>
            <a:pPr lvl="1" algn="l"/>
            <a:r>
              <a:rPr lang="en-US" sz="2000" dirty="0"/>
              <a:t>		</a:t>
            </a:r>
            <a:r>
              <a:rPr lang="en-US" sz="2000" dirty="0">
                <a:solidFill>
                  <a:schemeClr val="tx1"/>
                </a:solidFill>
              </a:rPr>
              <a:t>Fingerprint on desk</a:t>
            </a:r>
          </a:p>
          <a:p>
            <a:pPr lvl="1" algn="l"/>
            <a:r>
              <a:rPr lang="en-US" sz="2000" dirty="0">
                <a:solidFill>
                  <a:schemeClr val="tx1"/>
                </a:solidFill>
              </a:rPr>
              <a:t>		Keycard swipe logs mismatch</a:t>
            </a:r>
          </a:p>
          <a:p>
            <a:pPr algn="l"/>
            <a:endParaRPr lang="en-US" sz="2000" dirty="0"/>
          </a:p>
          <a:p>
            <a:pPr algn="l"/>
            <a:r>
              <a:rPr lang="en-US" sz="2000" b="1" dirty="0"/>
              <a:t>		  Final Verdict:</a:t>
            </a:r>
            <a:r>
              <a:rPr lang="en-US" sz="2000" dirty="0"/>
              <a:t> Movements, alibi, and call activity all 								  conflict </a:t>
            </a:r>
          </a:p>
          <a:p>
            <a:pPr algn="l"/>
            <a:r>
              <a:rPr lang="en-US" sz="2000" dirty="0"/>
              <a:t>			   </a:t>
            </a:r>
          </a:p>
          <a:p>
            <a:pPr algn="l"/>
            <a:r>
              <a:rPr lang="en-US" sz="2000" dirty="0"/>
              <a:t>					→ </a:t>
            </a:r>
            <a:r>
              <a:rPr lang="en-US" sz="2000" b="1" dirty="0"/>
              <a:t>David Kumar</a:t>
            </a:r>
            <a:r>
              <a:rPr lang="en-US" sz="2000" dirty="0"/>
              <a:t> is the prime suspect</a:t>
            </a:r>
            <a:endParaRPr lang="en-IN" sz="2400" dirty="0"/>
          </a:p>
          <a:p>
            <a:pPr algn="l"/>
            <a:endParaRPr lang="en-IN" sz="2400" dirty="0"/>
          </a:p>
          <a:p>
            <a:pPr algn="l"/>
            <a:endParaRPr lang="en-IN" sz="2400" dirty="0"/>
          </a:p>
          <a:p>
            <a:pPr algn="l"/>
            <a:endParaRPr lang="en-IN" sz="2400" dirty="0"/>
          </a:p>
          <a:p>
            <a:pPr algn="l"/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826244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2CBF02-BEAF-4166-A1E8-02BD6583B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537" y="180475"/>
            <a:ext cx="6930189" cy="8819146"/>
          </a:xfrm>
        </p:spPr>
        <p:txBody>
          <a:bodyPr/>
          <a:lstStyle/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sz="2600" dirty="0"/>
          </a:p>
          <a:p>
            <a:pPr algn="l"/>
            <a:endParaRPr lang="en-IN" sz="2600" dirty="0"/>
          </a:p>
          <a:p>
            <a:pPr algn="l"/>
            <a:r>
              <a:rPr lang="en-IN" sz="2600" dirty="0"/>
              <a:t>	    Thank you</a:t>
            </a:r>
          </a:p>
        </p:txBody>
      </p:sp>
    </p:spTree>
    <p:extLst>
      <p:ext uri="{BB962C8B-B14F-4D97-AF65-F5344CB8AC3E}">
        <p14:creationId xmlns:p14="http://schemas.microsoft.com/office/powerpoint/2010/main" val="3987303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190</TotalTime>
  <Words>688</Words>
  <Application>Microsoft Office PowerPoint</Application>
  <PresentationFormat>Custom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malik</dc:creator>
  <cp:lastModifiedBy>vishal malik</cp:lastModifiedBy>
  <cp:revision>20</cp:revision>
  <dcterms:created xsi:type="dcterms:W3CDTF">2025-11-29T03:53:26Z</dcterms:created>
  <dcterms:modified xsi:type="dcterms:W3CDTF">2025-11-29T07:04:24Z</dcterms:modified>
</cp:coreProperties>
</file>